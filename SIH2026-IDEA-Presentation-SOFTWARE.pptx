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60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embeddedFontLst>
    <p:embeddedFont>
      <p:font typeface="Garamond" panose="02020404030301010803" pitchFamily="18" charset="0"/>
      <p:regular r:id="rId9"/>
      <p:bold r:id="rId10"/>
      <p:italic r:id="rId11"/>
      <p:boldItalic r:id="rId12"/>
    </p:embeddedFont>
    <p:embeddedFont>
      <p:font typeface="Oswald" pitchFamily="2" charset="0"/>
      <p:regular r:id="rId13"/>
      <p:bold r:id="rId14"/>
    </p:embeddedFont>
    <p:embeddedFont>
      <p:font typeface="Roboto Mono" pitchFamily="2" charset="0"/>
      <p:regular r:id="rId15"/>
      <p:bold r:id="rId16"/>
      <p:italic r:id="rId17"/>
      <p:boldItalic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AD7D088-C40F-4975-B5E9-3163C44DAC8F}">
  <a:tblStyle styleId="{9AD7D088-C40F-4975-B5E9-3163C44DAC8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1" d="100"/>
          <a:sy n="91" d="100"/>
        </p:scale>
        <p:origin x="341" y="67"/>
      </p:cViewPr>
      <p:guideLst>
        <p:guide orient="horz" pos="2160"/>
        <p:guide pos="3840"/>
      </p:guideLst>
    </p:cSldViewPr>
  </p:slideViewPr>
  <p:notesTextViewPr>
    <p:cViewPr>
      <p:scale>
        <a:sx n="125" d="100"/>
        <a:sy n="12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font" Target="fonts/font8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10" Type="http://schemas.openxmlformats.org/officeDocument/2006/relationships/font" Target="fonts/font2.fntdata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fa1dad59a6_0_301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g3fa1dad59a6_0_301:notes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g3fa1dad59a6_0_301:notes"/>
          <p:cNvSpPr>
            <a:spLocks noGrp="1" noRot="1" noChangeAspect="1"/>
          </p:cNvSpPr>
          <p:nvPr>
            <p:ph type="sldImg" idx="3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0" name="Google Shape;100;g3fa1dad59a6_0_3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g3fa1dad59a6_0_301:notes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g3fa1dad59a6_0_30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fa1dad59a6_0_546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g3fa1dad59a6_0_546:notes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g3fa1dad59a6_0_546:notes"/>
          <p:cNvSpPr>
            <a:spLocks noGrp="1" noRot="1" noChangeAspect="1"/>
          </p:cNvSpPr>
          <p:nvPr>
            <p:ph type="sldImg" idx="3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8" name="Google Shape;128;g3fa1dad59a6_0_5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g3fa1dad59a6_0_546:notes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g3fa1dad59a6_0_54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67" name="Google Shape;167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4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87" name="Google Shape;187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5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fa1dad59a6_0_1105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" name="Google Shape;198;g3fa1dad59a6_0_1105:notes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g3fa1dad59a6_0_1105:notes"/>
          <p:cNvSpPr>
            <a:spLocks noGrp="1" noRot="1" noChangeAspect="1"/>
          </p:cNvSpPr>
          <p:nvPr>
            <p:ph type="sldImg" idx="3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0" name="Google Shape;200;g3fa1dad59a6_0_11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g3fa1dad59a6_0_1105:notes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g3fa1dad59a6_0_110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body" idx="1"/>
          </p:nvPr>
        </p:nvSpPr>
        <p:spPr>
          <a:xfrm>
            <a:off x="609600" y="1095375"/>
            <a:ext cx="10972800" cy="5030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4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body" idx="1"/>
          </p:nvPr>
        </p:nvSpPr>
        <p:spPr>
          <a:xfrm>
            <a:off x="609600" y="1600203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body" idx="2"/>
          </p:nvPr>
        </p:nvSpPr>
        <p:spPr>
          <a:xfrm>
            <a:off x="6197600" y="1600203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body" idx="3"/>
          </p:nvPr>
        </p:nvSpPr>
        <p:spPr>
          <a:xfrm>
            <a:off x="6193369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body" idx="4"/>
          </p:nvPr>
        </p:nvSpPr>
        <p:spPr>
          <a:xfrm>
            <a:off x="6193369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6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7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8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1"/>
          </p:nvPr>
        </p:nvSpPr>
        <p:spPr>
          <a:xfrm>
            <a:off x="4766733" y="273053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body" idx="2"/>
          </p:nvPr>
        </p:nvSpPr>
        <p:spPr>
          <a:xfrm>
            <a:off x="609602" y="1435103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0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body" idx="1"/>
          </p:nvPr>
        </p:nvSpPr>
        <p:spPr>
          <a:xfrm rot="5400000">
            <a:off x="3580606" y="-1875631"/>
            <a:ext cx="5030788" cy="109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>
            <a:spLocks noGrp="1"/>
          </p:cNvSpPr>
          <p:nvPr>
            <p:ph type="title"/>
          </p:nvPr>
        </p:nvSpPr>
        <p:spPr>
          <a:xfrm rot="5400000">
            <a:off x="7285038" y="1828804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body" idx="1"/>
          </p:nvPr>
        </p:nvSpPr>
        <p:spPr>
          <a:xfrm rot="5400000">
            <a:off x="1697038" y="-812796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enerated (g3fa1dad59a6_24_0)">
  <p:cSld name="Generated (g3fa1dad59a6_24_0)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609600" y="1095375"/>
            <a:ext cx="10972800" cy="5030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2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4"/>
          <p:cNvSpPr/>
          <p:nvPr/>
        </p:nvSpPr>
        <p:spPr>
          <a:xfrm>
            <a:off x="1524000" y="0"/>
            <a:ext cx="9144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4"/>
          <p:cNvSpPr/>
          <p:nvPr/>
        </p:nvSpPr>
        <p:spPr>
          <a:xfrm>
            <a:off x="5656780" y="851521"/>
            <a:ext cx="4638605" cy="5154967"/>
          </a:xfrm>
          <a:custGeom>
            <a:avLst/>
            <a:gdLst/>
            <a:ahLst/>
            <a:cxnLst/>
            <a:rect l="l" t="t" r="r" b="b"/>
            <a:pathLst>
              <a:path w="6184806" h="5154967" extrusionOk="0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rgbClr val="7F7F7F">
              <a:alpha val="14902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1" name="Google Shape;91;p14"/>
          <p:cNvPicPr preferRelativeResize="0"/>
          <p:nvPr/>
        </p:nvPicPr>
        <p:blipFill rotWithShape="1">
          <a:blip r:embed="rId3">
            <a:alphaModFix/>
          </a:blip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4"/>
          <p:cNvSpPr txBox="1">
            <a:spLocks noGrp="1"/>
          </p:cNvSpPr>
          <p:nvPr>
            <p:ph type="subTitle" idx="1"/>
          </p:nvPr>
        </p:nvSpPr>
        <p:spPr>
          <a:xfrm>
            <a:off x="1448875" y="851525"/>
            <a:ext cx="8534400" cy="106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Explainable AI for Diabetic Retinopathy Screening in Rural India</a:t>
            </a: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3" name="Google Shape;93;p14"/>
          <p:cNvSpPr txBox="1">
            <a:spLocks noGrp="1"/>
          </p:cNvSpPr>
          <p:nvPr>
            <p:ph type="ctrTitle"/>
          </p:nvPr>
        </p:nvSpPr>
        <p:spPr>
          <a:xfrm>
            <a:off x="331286" y="-526757"/>
            <a:ext cx="10363200" cy="207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  <a:t>SMART INDIA HACKATHON 2026</a:t>
            </a:r>
            <a:endParaRPr sz="4000" b="1">
              <a:solidFill>
                <a:schemeClr val="dk2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94" name="Google Shape;94;p14"/>
          <p:cNvSpPr txBox="1"/>
          <p:nvPr/>
        </p:nvSpPr>
        <p:spPr>
          <a:xfrm>
            <a:off x="331286" y="2076450"/>
            <a:ext cx="5924700" cy="401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794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Char char="•"/>
            </a:pPr>
            <a:r>
              <a:rPr lang="en-US" sz="23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Problem Statement ID – SIH26038</a:t>
            </a:r>
            <a:endParaRPr sz="1300"/>
          </a:p>
          <a:p>
            <a:pPr marL="285750" marR="0" lvl="0" indent="-2794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Char char="•"/>
            </a:pPr>
            <a:r>
              <a:rPr lang="en-US" sz="23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Problem Statement Title- </a:t>
            </a:r>
            <a:endParaRPr sz="23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/>
              <a:t>Explainable AI for Diabetic Retinopathy Screening in Rural India</a:t>
            </a:r>
            <a:endParaRPr sz="2100" b="1"/>
          </a:p>
          <a:p>
            <a:pPr marL="285750" marR="0" lvl="0" indent="-279400" algn="just" rtl="0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Char char="•"/>
            </a:pPr>
            <a:r>
              <a:rPr lang="en-US" sz="23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Theme- </a:t>
            </a:r>
            <a:r>
              <a:rPr lang="en-US" sz="2300" b="1">
                <a:solidFill>
                  <a:schemeClr val="dk1"/>
                </a:solidFill>
              </a:rPr>
              <a:t>MedTech/BioTech/HealthTech</a:t>
            </a:r>
            <a:endParaRPr sz="1300"/>
          </a:p>
          <a:p>
            <a:pPr marL="285750" marR="0" lvl="0" indent="-2794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Char char="•"/>
            </a:pPr>
            <a:r>
              <a:rPr lang="en-US" sz="23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PS Category- Software</a:t>
            </a:r>
            <a:endParaRPr sz="1300"/>
          </a:p>
          <a:p>
            <a:pPr marL="285750" marR="0" lvl="0" indent="-2794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Char char="•"/>
            </a:pPr>
            <a:r>
              <a:rPr lang="en-US" sz="23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Team Nam</a:t>
            </a:r>
            <a:r>
              <a:rPr lang="en-US" sz="2300" b="1">
                <a:solidFill>
                  <a:schemeClr val="dk1"/>
                </a:solidFill>
              </a:rPr>
              <a:t>e - Arctic</a:t>
            </a:r>
            <a:endParaRPr sz="23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5" name="Google Shape;95;p1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780086" y="1500"/>
            <a:ext cx="2249850" cy="10623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15"/>
          <p:cNvSpPr/>
          <p:nvPr/>
        </p:nvSpPr>
        <p:spPr>
          <a:xfrm>
            <a:off x="0" y="6414897"/>
            <a:ext cx="12192000" cy="4431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15"/>
          <p:cNvSpPr txBox="1"/>
          <p:nvPr/>
        </p:nvSpPr>
        <p:spPr>
          <a:xfrm>
            <a:off x="4648200" y="6451568"/>
            <a:ext cx="3204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2</a:t>
            </a:r>
            <a:endParaRPr sz="1200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grpSp>
        <p:nvGrpSpPr>
          <p:cNvPr id="107" name="Google Shape;107;p15"/>
          <p:cNvGrpSpPr/>
          <p:nvPr/>
        </p:nvGrpSpPr>
        <p:grpSpPr>
          <a:xfrm>
            <a:off x="329756" y="252222"/>
            <a:ext cx="1459500" cy="609900"/>
            <a:chOff x="0" y="0"/>
            <a:chExt cx="1459500" cy="609900"/>
          </a:xfrm>
        </p:grpSpPr>
        <p:sp>
          <p:nvSpPr>
            <p:cNvPr id="108" name="Google Shape;108;p15"/>
            <p:cNvSpPr/>
            <p:nvPr/>
          </p:nvSpPr>
          <p:spPr>
            <a:xfrm>
              <a:off x="0" y="0"/>
              <a:ext cx="1459500" cy="609900"/>
            </a:xfrm>
            <a:prstGeom prst="ellipse">
              <a:avLst/>
            </a:prstGeom>
            <a:solidFill>
              <a:srgbClr val="FFFFFF"/>
            </a:solidFill>
            <a:ln w="25425" cap="flat" cmpd="sng">
              <a:solidFill>
                <a:srgbClr val="8064A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15"/>
            <p:cNvSpPr txBox="1"/>
            <p:nvPr/>
          </p:nvSpPr>
          <p:spPr>
            <a:xfrm>
              <a:off x="0" y="0"/>
              <a:ext cx="1459500" cy="609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ARCTIC</a:t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10" name="Google Shape;110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780080" y="1524"/>
            <a:ext cx="2250000" cy="10623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/>
        </p:nvSpPr>
        <p:spPr>
          <a:xfrm>
            <a:off x="2008237" y="-297670"/>
            <a:ext cx="76539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PROPOSED SOLUTION</a:t>
            </a:r>
            <a:endParaRPr sz="3000" b="1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grpSp>
        <p:nvGrpSpPr>
          <p:cNvPr id="112" name="Google Shape;112;p15"/>
          <p:cNvGrpSpPr/>
          <p:nvPr/>
        </p:nvGrpSpPr>
        <p:grpSpPr>
          <a:xfrm>
            <a:off x="476250" y="1095375"/>
            <a:ext cx="4720175" cy="4938836"/>
            <a:chOff x="0" y="0"/>
            <a:chExt cx="4720175" cy="5191125"/>
          </a:xfrm>
        </p:grpSpPr>
        <p:sp>
          <p:nvSpPr>
            <p:cNvPr id="113" name="Google Shape;113;p15"/>
            <p:cNvSpPr txBox="1"/>
            <p:nvPr/>
          </p:nvSpPr>
          <p:spPr>
            <a:xfrm>
              <a:off x="338675" y="0"/>
              <a:ext cx="4381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>
                  <a:solidFill>
                    <a:srgbClr val="0070C0"/>
                  </a:solidFill>
                  <a:latin typeface="Arial"/>
                  <a:ea typeface="Arial"/>
                  <a:cs typeface="Arial"/>
                  <a:sym typeface="Arial"/>
                </a:rPr>
                <a:t>Explainable AI (XAI) Pipeline</a:t>
              </a:r>
              <a:endParaRPr sz="1800" b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" name="Google Shape;114;p15"/>
            <p:cNvSpPr txBox="1"/>
            <p:nvPr/>
          </p:nvSpPr>
          <p:spPr>
            <a:xfrm>
              <a:off x="0" y="428625"/>
              <a:ext cx="4381500" cy="4762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142875" tIns="0" rIns="0" bIns="0" anchor="t" anchorCtr="0">
              <a:noAutofit/>
            </a:bodyPr>
            <a:lstStyle/>
            <a:p>
              <a:pPr marL="457200" lvl="0" indent="-301625" algn="l" rtl="0">
                <a:spcBef>
                  <a:spcPts val="0"/>
                </a:spcBef>
                <a:spcAft>
                  <a:spcPts val="0"/>
                </a:spcAft>
                <a:buClr>
                  <a:srgbClr val="333333"/>
                </a:buClr>
                <a:buSzPts val="1150"/>
                <a:buFont typeface="Arial"/>
                <a:buChar char="●"/>
              </a:pPr>
              <a:r>
                <a:rPr lang="en-US" sz="1250" b="1" dirty="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SHAP: </a:t>
              </a:r>
              <a:r>
                <a:rPr lang="en-US" sz="1200" b="0" dirty="0">
                  <a:solidFill>
                    <a:srgbClr val="000000"/>
                  </a:solidFill>
                  <a:highlight>
                    <a:srgbClr val="FFE6CC"/>
                  </a:highlight>
                  <a:latin typeface="Arial"/>
                  <a:ea typeface="Arial"/>
                  <a:cs typeface="Arial"/>
                  <a:sym typeface="Arial"/>
                </a:rPr>
                <a:t>Game-theoretic attribution</a:t>
              </a:r>
              <a:r>
                <a:rPr lang="en-US" sz="1200" b="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— quantifies </a:t>
              </a:r>
              <a:r>
                <a:rPr lang="en-US" sz="1200" b="0" i="1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how much</a:t>
              </a:r>
              <a:r>
                <a:rPr lang="en-US" sz="1200" b="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each region influenced the decision</a:t>
              </a:r>
              <a:endParaRPr sz="1250" b="1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457200" lvl="0" indent="-301625" algn="l" rtl="0">
                <a:spcBef>
                  <a:spcPts val="600"/>
                </a:spcBef>
                <a:spcAft>
                  <a:spcPts val="0"/>
                </a:spcAft>
                <a:buClr>
                  <a:srgbClr val="333333"/>
                </a:buClr>
                <a:buSzPts val="1150"/>
                <a:buFont typeface="Arial"/>
                <a:buChar char="●"/>
              </a:pPr>
              <a:r>
                <a:rPr lang="en-US" sz="1250" b="1" dirty="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Sign Alignment: </a:t>
              </a:r>
              <a:r>
                <a:rPr lang="en-US" sz="1200" b="0" dirty="0">
                  <a:solidFill>
                    <a:srgbClr val="000000"/>
                  </a:solidFill>
                  <a:highlight>
                    <a:srgbClr val="E2F0D9"/>
                  </a:highlight>
                  <a:latin typeface="Arial"/>
                  <a:ea typeface="Arial"/>
                  <a:cs typeface="Arial"/>
                  <a:sym typeface="Arial"/>
                </a:rPr>
                <a:t>Red regions support the diagnosis; Blue regions push against it</a:t>
              </a:r>
              <a:endParaRPr sz="1250" b="1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457200" lvl="0" indent="-301625" algn="l" rtl="0">
                <a:spcBef>
                  <a:spcPts val="600"/>
                </a:spcBef>
                <a:spcAft>
                  <a:spcPts val="0"/>
                </a:spcAft>
                <a:buClr>
                  <a:srgbClr val="333333"/>
                </a:buClr>
                <a:buSzPts val="1150"/>
                <a:buFont typeface="Arial"/>
                <a:buChar char="●"/>
              </a:pPr>
              <a:r>
                <a:rPr lang="en-US" sz="1250" b="1" dirty="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Faithfulness: </a:t>
              </a:r>
              <a:r>
                <a:rPr lang="en-US" sz="1200" b="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Validated via </a:t>
              </a:r>
              <a:r>
                <a:rPr lang="en-US" sz="1200" b="0" dirty="0">
                  <a:solidFill>
                    <a:srgbClr val="000000"/>
                  </a:solidFill>
                  <a:highlight>
                    <a:srgbClr val="FFE6CC"/>
                  </a:highlight>
                  <a:latin typeface="Arial"/>
                  <a:ea typeface="Arial"/>
                  <a:cs typeface="Arial"/>
                  <a:sym typeface="Arial"/>
                </a:rPr>
                <a:t>Deletion/Insertion AUC</a:t>
              </a:r>
              <a:r>
                <a:rPr lang="en-US" sz="1200" b="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— confirms explanations aren't cosmetic</a:t>
              </a:r>
              <a:endParaRPr sz="1250" b="1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457200" lvl="0" indent="-301625" algn="l" rtl="0">
                <a:spcBef>
                  <a:spcPts val="600"/>
                </a:spcBef>
                <a:spcAft>
                  <a:spcPts val="0"/>
                </a:spcAft>
                <a:buClr>
                  <a:srgbClr val="333333"/>
                </a:buClr>
                <a:buSzPts val="1150"/>
                <a:buFont typeface="Arial"/>
                <a:buChar char="●"/>
              </a:pPr>
              <a:r>
                <a:rPr lang="en-US" sz="1250" b="1" dirty="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Consistency: </a:t>
              </a:r>
              <a:r>
                <a:rPr lang="en-US" sz="1200" b="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Same-grade images show matching attribution patterns (</a:t>
              </a:r>
              <a:r>
                <a:rPr lang="en-US" sz="1200" b="0" dirty="0">
                  <a:solidFill>
                    <a:srgbClr val="000000"/>
                  </a:solidFill>
                  <a:highlight>
                    <a:srgbClr val="E2F0D9"/>
                  </a:highlight>
                  <a:latin typeface="Arial"/>
                  <a:ea typeface="Arial"/>
                  <a:cs typeface="Arial"/>
                  <a:sym typeface="Arial"/>
                </a:rPr>
                <a:t>cosine similarity check</a:t>
              </a:r>
              <a:r>
                <a:rPr lang="en-US" sz="1200" b="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)</a:t>
              </a:r>
              <a:endParaRPr sz="1250" b="1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457200" lvl="0" indent="-301625" algn="l" rtl="0">
                <a:spcBef>
                  <a:spcPts val="600"/>
                </a:spcBef>
                <a:spcAft>
                  <a:spcPts val="600"/>
                </a:spcAft>
                <a:buClr>
                  <a:srgbClr val="333333"/>
                </a:buClr>
                <a:buSzPts val="1150"/>
                <a:buFont typeface="Arial"/>
                <a:buChar char="●"/>
              </a:pPr>
              <a:r>
                <a:rPr lang="en-US" sz="1250" b="1" dirty="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Transparency: </a:t>
              </a:r>
              <a:r>
                <a:rPr lang="en-US" sz="1200" b="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Failure cases show </a:t>
              </a:r>
              <a:r>
                <a:rPr lang="en-US" sz="1200" b="0" dirty="0">
                  <a:solidFill>
                    <a:srgbClr val="000000"/>
                  </a:solidFill>
                  <a:highlight>
                    <a:srgbClr val="FFE6CC"/>
                  </a:highlight>
                  <a:latin typeface="Arial"/>
                  <a:ea typeface="Arial"/>
                  <a:cs typeface="Arial"/>
                  <a:sym typeface="Arial"/>
                </a:rPr>
                <a:t>explanations for both predicted and true class</a:t>
              </a:r>
              <a:endParaRPr sz="1250" b="1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15" name="Google Shape;115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77912" y="1210400"/>
            <a:ext cx="3521476" cy="2134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819550" y="981150"/>
            <a:ext cx="2986325" cy="4763852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pic>
      <p:grpSp>
        <p:nvGrpSpPr>
          <p:cNvPr id="117" name="Google Shape;117;p15"/>
          <p:cNvGrpSpPr/>
          <p:nvPr/>
        </p:nvGrpSpPr>
        <p:grpSpPr>
          <a:xfrm>
            <a:off x="3118800" y="1144113"/>
            <a:ext cx="8717913" cy="5223388"/>
            <a:chOff x="-2024700" y="48738"/>
            <a:chExt cx="8717913" cy="5223388"/>
          </a:xfrm>
        </p:grpSpPr>
        <p:grpSp>
          <p:nvGrpSpPr>
            <p:cNvPr id="118" name="Google Shape;118;p15"/>
            <p:cNvGrpSpPr/>
            <p:nvPr/>
          </p:nvGrpSpPr>
          <p:grpSpPr>
            <a:xfrm>
              <a:off x="171150" y="48738"/>
              <a:ext cx="6210600" cy="2427825"/>
              <a:chOff x="171150" y="48738"/>
              <a:chExt cx="6210600" cy="2427825"/>
            </a:xfrm>
          </p:grpSpPr>
          <p:sp>
            <p:nvSpPr>
              <p:cNvPr id="119" name="Google Shape;119;p15"/>
              <p:cNvSpPr txBox="1"/>
              <p:nvPr/>
            </p:nvSpPr>
            <p:spPr>
              <a:xfrm>
                <a:off x="3333750" y="48738"/>
                <a:ext cx="3048000" cy="2000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1">
                  <a:solidFill>
                    <a:srgbClr val="888888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0" name="Google Shape;120;p15"/>
              <p:cNvSpPr txBox="1"/>
              <p:nvPr/>
            </p:nvSpPr>
            <p:spPr>
              <a:xfrm>
                <a:off x="171150" y="2190663"/>
                <a:ext cx="30480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100" b="1">
                    <a:solidFill>
                      <a:srgbClr val="555555"/>
                    </a:solidFill>
                    <a:latin typeface="Arial"/>
                    <a:ea typeface="Arial"/>
                    <a:cs typeface="Arial"/>
                    <a:sym typeface="Arial"/>
                  </a:rPr>
                  <a:t>APTOS XAI Metric Summary</a:t>
                </a:r>
                <a:endParaRPr sz="1100" b="1">
                  <a:solidFill>
                    <a:srgbClr val="555555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21" name="Google Shape;121;p15"/>
            <p:cNvSpPr txBox="1"/>
            <p:nvPr/>
          </p:nvSpPr>
          <p:spPr>
            <a:xfrm>
              <a:off x="3645213" y="4841625"/>
              <a:ext cx="3048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1">
                  <a:solidFill>
                    <a:srgbClr val="555555"/>
                  </a:solidFill>
                  <a:latin typeface="Arial"/>
                  <a:ea typeface="Arial"/>
                  <a:cs typeface="Arial"/>
                  <a:sym typeface="Arial"/>
                </a:rPr>
                <a:t>SHAP Consistency Grid</a:t>
              </a:r>
              <a:endParaRPr sz="1100" b="1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" name="Google Shape;122;p15"/>
            <p:cNvSpPr txBox="1"/>
            <p:nvPr/>
          </p:nvSpPr>
          <p:spPr>
            <a:xfrm>
              <a:off x="-2024700" y="4986225"/>
              <a:ext cx="3048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1">
                  <a:solidFill>
                    <a:srgbClr val="555555"/>
                  </a:solidFill>
                  <a:latin typeface="Arial"/>
                  <a:ea typeface="Arial"/>
                  <a:cs typeface="Arial"/>
                  <a:sym typeface="Arial"/>
                </a:rPr>
                <a:t>SHAP Model Desicion Attribution</a:t>
              </a:r>
              <a:endParaRPr sz="1100" b="1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23" name="Google Shape;123;p1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357750" y="3709800"/>
            <a:ext cx="6570096" cy="2340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33" name="Google Shape;133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780080" y="1495"/>
            <a:ext cx="2250000" cy="106230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6"/>
          <p:cNvSpPr/>
          <p:nvPr/>
        </p:nvSpPr>
        <p:spPr>
          <a:xfrm>
            <a:off x="329775" y="252241"/>
            <a:ext cx="1251900" cy="807300"/>
          </a:xfrm>
          <a:prstGeom prst="ellipse">
            <a:avLst/>
          </a:prstGeom>
          <a:solidFill>
            <a:srgbClr val="FFFFFF"/>
          </a:solidFill>
          <a:ln w="25400" cap="flat" cmpd="sng">
            <a:solidFill>
              <a:srgbClr val="8064A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16"/>
          <p:cNvSpPr txBox="1"/>
          <p:nvPr/>
        </p:nvSpPr>
        <p:spPr>
          <a:xfrm>
            <a:off x="513055" y="365398"/>
            <a:ext cx="8853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ARCTIC</a:t>
            </a:r>
            <a:endParaRPr sz="1800" b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6"/>
          <p:cNvSpPr txBox="1"/>
          <p:nvPr/>
        </p:nvSpPr>
        <p:spPr>
          <a:xfrm>
            <a:off x="1905000" y="190500"/>
            <a:ext cx="7620000" cy="9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800" b="1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TECHNICAL APPROACH</a:t>
            </a:r>
            <a:endParaRPr sz="3800" b="1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grpSp>
        <p:nvGrpSpPr>
          <p:cNvPr id="137" name="Google Shape;137;p16"/>
          <p:cNvGrpSpPr/>
          <p:nvPr/>
        </p:nvGrpSpPr>
        <p:grpSpPr>
          <a:xfrm>
            <a:off x="329775" y="1135200"/>
            <a:ext cx="9834761" cy="714300"/>
            <a:chOff x="0" y="0"/>
            <a:chExt cx="10048800" cy="714300"/>
          </a:xfrm>
        </p:grpSpPr>
        <p:pic>
          <p:nvPicPr>
            <p:cNvPr id="138" name="Google Shape;138;p16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0" y="0"/>
              <a:ext cx="1666800" cy="714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9" name="Google Shape;139;p16"/>
            <p:cNvSpPr txBox="1"/>
            <p:nvPr/>
          </p:nvSpPr>
          <p:spPr>
            <a:xfrm>
              <a:off x="0" y="0"/>
              <a:ext cx="1666800" cy="714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7625" tIns="47625" rIns="47625" bIns="476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50" b="1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Fundus Image Input</a:t>
              </a:r>
              <a:endParaRPr sz="115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" name="Google Shape;140;p16"/>
            <p:cNvSpPr/>
            <p:nvPr/>
          </p:nvSpPr>
          <p:spPr>
            <a:xfrm>
              <a:off x="1743075" y="357188"/>
              <a:ext cx="276300" cy="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0"/>
                  </a:moveTo>
                  <a:lnTo>
                    <a:pt x="120000" y="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w="28575" cap="flat" cmpd="sng">
              <a:solidFill>
                <a:srgbClr val="0070C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Google Shape;141;p16"/>
            <p:cNvSpPr/>
            <p:nvPr/>
          </p:nvSpPr>
          <p:spPr>
            <a:xfrm>
              <a:off x="1943100" y="309563"/>
              <a:ext cx="76200" cy="954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120000" y="60000"/>
                  </a:moveTo>
                  <a:lnTo>
                    <a:pt x="0" y="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42" name="Google Shape;142;p16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2095500" y="0"/>
              <a:ext cx="1666800" cy="714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3" name="Google Shape;143;p16"/>
            <p:cNvSpPr txBox="1"/>
            <p:nvPr/>
          </p:nvSpPr>
          <p:spPr>
            <a:xfrm>
              <a:off x="2095500" y="0"/>
              <a:ext cx="1666800" cy="714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7625" tIns="47625" rIns="47625" bIns="476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50" b="1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Ben Graham Preprocessing</a:t>
              </a:r>
              <a:endParaRPr sz="115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" name="Google Shape;144;p16"/>
            <p:cNvSpPr/>
            <p:nvPr/>
          </p:nvSpPr>
          <p:spPr>
            <a:xfrm>
              <a:off x="3838575" y="357188"/>
              <a:ext cx="276300" cy="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0"/>
                  </a:moveTo>
                  <a:lnTo>
                    <a:pt x="120000" y="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w="28575" cap="flat" cmpd="sng">
              <a:solidFill>
                <a:srgbClr val="0070C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145;p16"/>
            <p:cNvSpPr/>
            <p:nvPr/>
          </p:nvSpPr>
          <p:spPr>
            <a:xfrm>
              <a:off x="4038600" y="309563"/>
              <a:ext cx="76200" cy="954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120000" y="60000"/>
                  </a:moveTo>
                  <a:lnTo>
                    <a:pt x="0" y="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46" name="Google Shape;146;p16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4191000" y="0"/>
              <a:ext cx="1666800" cy="714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7" name="Google Shape;147;p16"/>
            <p:cNvSpPr txBox="1"/>
            <p:nvPr/>
          </p:nvSpPr>
          <p:spPr>
            <a:xfrm>
              <a:off x="4191000" y="0"/>
              <a:ext cx="1666800" cy="714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7625" tIns="47625" rIns="47625" bIns="476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50" b="1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Swin-Tiny Transformer (384x384)</a:t>
              </a:r>
              <a:endParaRPr sz="115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" name="Google Shape;148;p16"/>
            <p:cNvSpPr/>
            <p:nvPr/>
          </p:nvSpPr>
          <p:spPr>
            <a:xfrm>
              <a:off x="5934075" y="357188"/>
              <a:ext cx="276300" cy="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0"/>
                  </a:moveTo>
                  <a:lnTo>
                    <a:pt x="120000" y="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w="28575" cap="flat" cmpd="sng">
              <a:solidFill>
                <a:srgbClr val="0070C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149;p16"/>
            <p:cNvSpPr/>
            <p:nvPr/>
          </p:nvSpPr>
          <p:spPr>
            <a:xfrm>
              <a:off x="6134100" y="309563"/>
              <a:ext cx="76200" cy="954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120000" y="60000"/>
                  </a:moveTo>
                  <a:lnTo>
                    <a:pt x="0" y="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50" name="Google Shape;150;p16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6286500" y="0"/>
              <a:ext cx="1666800" cy="714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1" name="Google Shape;151;p16"/>
            <p:cNvSpPr txBox="1"/>
            <p:nvPr/>
          </p:nvSpPr>
          <p:spPr>
            <a:xfrm>
              <a:off x="6286500" y="0"/>
              <a:ext cx="1666800" cy="714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7625" tIns="47625" rIns="47625" bIns="476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50" b="1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Test-Time Augmentation (3 views)</a:t>
              </a:r>
              <a:endParaRPr sz="115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" name="Google Shape;152;p16"/>
            <p:cNvSpPr/>
            <p:nvPr/>
          </p:nvSpPr>
          <p:spPr>
            <a:xfrm>
              <a:off x="8029575" y="357188"/>
              <a:ext cx="276300" cy="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0"/>
                  </a:moveTo>
                  <a:lnTo>
                    <a:pt x="120000" y="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w="28575" cap="flat" cmpd="sng">
              <a:solidFill>
                <a:srgbClr val="0070C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153;p16"/>
            <p:cNvSpPr/>
            <p:nvPr/>
          </p:nvSpPr>
          <p:spPr>
            <a:xfrm>
              <a:off x="8229600" y="309563"/>
              <a:ext cx="76200" cy="954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120000" y="60000"/>
                  </a:moveTo>
                  <a:lnTo>
                    <a:pt x="0" y="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54" name="Google Shape;154;p16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8382000" y="0"/>
              <a:ext cx="1666800" cy="714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5" name="Google Shape;155;p16"/>
            <p:cNvSpPr txBox="1"/>
            <p:nvPr/>
          </p:nvSpPr>
          <p:spPr>
            <a:xfrm>
              <a:off x="8382000" y="0"/>
              <a:ext cx="1666800" cy="714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7625" tIns="47625" rIns="47625" bIns="476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50" b="1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Ordinal Regression Output</a:t>
              </a:r>
              <a:br>
                <a:rPr lang="en-US" sz="1150" b="1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lang="en-US" sz="950" b="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(QWK-Optimized)</a:t>
              </a:r>
              <a:endParaRPr sz="115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6" name="Google Shape;156;p16"/>
          <p:cNvSpPr txBox="1"/>
          <p:nvPr/>
        </p:nvSpPr>
        <p:spPr>
          <a:xfrm>
            <a:off x="329775" y="2047799"/>
            <a:ext cx="4318500" cy="4148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Training Strategy</a:t>
            </a:r>
            <a:endParaRPr sz="2000" b="1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55600" algn="l" rtl="0">
              <a:spcBef>
                <a:spcPts val="1125"/>
              </a:spcBef>
              <a:spcAft>
                <a:spcPts val="0"/>
              </a:spcAft>
              <a:buClr>
                <a:srgbClr val="0070C0"/>
              </a:buClr>
              <a:buSzPts val="2000"/>
              <a:buFont typeface="Arial"/>
              <a:buChar char="●"/>
            </a:pPr>
            <a:r>
              <a:rPr lang="en-US" sz="125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Ordinal Regression (MSE Loss): </a:t>
            </a:r>
            <a:r>
              <a:rPr lang="en-US" sz="1250" b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optimizes </a:t>
            </a:r>
            <a:r>
              <a:rPr lang="en-US" sz="1250" b="0">
                <a:solidFill>
                  <a:srgbClr val="333333"/>
                </a:solidFill>
                <a:highlight>
                  <a:srgbClr val="FFE6CC"/>
                </a:highlight>
                <a:latin typeface="Arial"/>
                <a:ea typeface="Arial"/>
                <a:cs typeface="Arial"/>
                <a:sym typeface="Arial"/>
              </a:rPr>
              <a:t>Quadratic Weighted Kappa</a:t>
            </a:r>
            <a:r>
              <a:rPr lang="en-US" sz="1250" b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directly to penalize large grading errors more than adjacent mistakes.</a:t>
            </a:r>
            <a:endParaRPr sz="2000" b="1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55600" algn="l" rtl="0">
              <a:spcBef>
                <a:spcPts val="900"/>
              </a:spcBef>
              <a:spcAft>
                <a:spcPts val="0"/>
              </a:spcAft>
              <a:buClr>
                <a:srgbClr val="0070C0"/>
              </a:buClr>
              <a:buSzPts val="2000"/>
              <a:buFont typeface="Arial"/>
              <a:buChar char="●"/>
            </a:pPr>
            <a:r>
              <a:rPr lang="en-US" sz="125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Optimizer &amp; Learning Rate: </a:t>
            </a:r>
            <a:r>
              <a:rPr lang="en-US" sz="1250" b="0">
                <a:solidFill>
                  <a:srgbClr val="333333"/>
                </a:solidFill>
                <a:highlight>
                  <a:srgbClr val="E2F0D9"/>
                </a:highlight>
                <a:latin typeface="Arial"/>
                <a:ea typeface="Arial"/>
                <a:cs typeface="Arial"/>
                <a:sym typeface="Arial"/>
              </a:rPr>
              <a:t>AdamW optimizer (LR = 1e-4)</a:t>
            </a:r>
            <a:r>
              <a:rPr lang="en-US" sz="1250" b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with </a:t>
            </a:r>
            <a:r>
              <a:rPr lang="en-US" sz="1250" b="0">
                <a:solidFill>
                  <a:srgbClr val="333333"/>
                </a:solidFill>
                <a:highlight>
                  <a:srgbClr val="FFE6CC"/>
                </a:highlight>
                <a:latin typeface="Arial"/>
                <a:ea typeface="Arial"/>
                <a:cs typeface="Arial"/>
                <a:sym typeface="Arial"/>
              </a:rPr>
              <a:t>cosine decay scheduling</a:t>
            </a:r>
            <a:r>
              <a:rPr lang="en-US" sz="1250" b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2000" b="1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55600" algn="l" rtl="0">
              <a:spcBef>
                <a:spcPts val="900"/>
              </a:spcBef>
              <a:spcAft>
                <a:spcPts val="0"/>
              </a:spcAft>
              <a:buClr>
                <a:srgbClr val="0070C0"/>
              </a:buClr>
              <a:buSzPts val="2000"/>
              <a:buFont typeface="Arial"/>
              <a:buChar char="●"/>
            </a:pPr>
            <a:r>
              <a:rPr lang="en-US" sz="125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Regularization: </a:t>
            </a:r>
            <a:r>
              <a:rPr lang="en-US" sz="1250" b="0">
                <a:solidFill>
                  <a:srgbClr val="333333"/>
                </a:solidFill>
                <a:highlight>
                  <a:srgbClr val="E2F0D9"/>
                </a:highlight>
                <a:latin typeface="Arial"/>
                <a:ea typeface="Arial"/>
                <a:cs typeface="Arial"/>
                <a:sym typeface="Arial"/>
              </a:rPr>
              <a:t>Dropout, Batch Normalization, and Early Stopping</a:t>
            </a:r>
            <a:r>
              <a:rPr lang="en-US" sz="1250" b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to rigorously prevent overfitting.</a:t>
            </a:r>
            <a:endParaRPr sz="2000" b="1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55600" algn="l" rtl="0">
              <a:spcBef>
                <a:spcPts val="900"/>
              </a:spcBef>
              <a:spcAft>
                <a:spcPts val="0"/>
              </a:spcAft>
              <a:buClr>
                <a:srgbClr val="0070C0"/>
              </a:buClr>
              <a:buSzPts val="2000"/>
              <a:buFont typeface="Arial"/>
              <a:buChar char="●"/>
            </a:pPr>
            <a:r>
              <a:rPr lang="en-US" sz="125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 Integrity: </a:t>
            </a:r>
            <a:r>
              <a:rPr lang="en-US" sz="1250" b="0">
                <a:solidFill>
                  <a:srgbClr val="333333"/>
                </a:solidFill>
                <a:highlight>
                  <a:srgbClr val="FFE6CC"/>
                </a:highlight>
                <a:latin typeface="Arial"/>
                <a:ea typeface="Arial"/>
                <a:cs typeface="Arial"/>
                <a:sym typeface="Arial"/>
              </a:rPr>
              <a:t>Strict train/test split with zero image overlap</a:t>
            </a:r>
            <a:r>
              <a:rPr lang="en-US" sz="1250" b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to avoid data leakage.</a:t>
            </a:r>
            <a:endParaRPr sz="2000" b="1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55600" algn="l" rtl="0">
              <a:spcBef>
                <a:spcPts val="900"/>
              </a:spcBef>
              <a:spcAft>
                <a:spcPts val="900"/>
              </a:spcAft>
              <a:buClr>
                <a:srgbClr val="0070C0"/>
              </a:buClr>
              <a:buSzPts val="2000"/>
              <a:buFont typeface="Arial"/>
              <a:buChar char="●"/>
            </a:pPr>
            <a:r>
              <a:rPr lang="en-US" sz="125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Generalization: </a:t>
            </a:r>
            <a:r>
              <a:rPr lang="en-US" sz="1250" b="0">
                <a:solidFill>
                  <a:srgbClr val="333333"/>
                </a:solidFill>
                <a:highlight>
                  <a:srgbClr val="E2F0D9"/>
                </a:highlight>
                <a:latin typeface="Arial"/>
                <a:ea typeface="Arial"/>
                <a:cs typeface="Arial"/>
                <a:sym typeface="Arial"/>
              </a:rPr>
              <a:t>Multi-source validation</a:t>
            </a:r>
            <a:r>
              <a:rPr lang="en-US" sz="1250" b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ensures models generalize and do not overfit to a single population.</a:t>
            </a:r>
            <a:endParaRPr sz="2000" b="1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57" name="Google Shape;157;p16"/>
          <p:cNvGrpSpPr/>
          <p:nvPr/>
        </p:nvGrpSpPr>
        <p:grpSpPr>
          <a:xfrm>
            <a:off x="5561138" y="2047788"/>
            <a:ext cx="5476800" cy="4009688"/>
            <a:chOff x="-1565725" y="-232437"/>
            <a:chExt cx="5476800" cy="4009688"/>
          </a:xfrm>
        </p:grpSpPr>
        <p:sp>
          <p:nvSpPr>
            <p:cNvPr id="158" name="Google Shape;158;p16"/>
            <p:cNvSpPr txBox="1"/>
            <p:nvPr/>
          </p:nvSpPr>
          <p:spPr>
            <a:xfrm>
              <a:off x="-1565725" y="-232437"/>
              <a:ext cx="54768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91440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1">
                  <a:solidFill>
                    <a:srgbClr val="0070C0"/>
                  </a:solidFill>
                  <a:latin typeface="Arial"/>
                  <a:ea typeface="Arial"/>
                  <a:cs typeface="Arial"/>
                  <a:sym typeface="Arial"/>
                </a:rPr>
                <a:t>Model Performance Metrics</a:t>
              </a:r>
              <a:endParaRPr sz="2000" b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" name="Google Shape;159;p16"/>
            <p:cNvSpPr txBox="1"/>
            <p:nvPr/>
          </p:nvSpPr>
          <p:spPr>
            <a:xfrm>
              <a:off x="-1446625" y="3396250"/>
              <a:ext cx="16668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>
                  <a:solidFill>
                    <a:srgbClr val="555555"/>
                  </a:solidFill>
                  <a:latin typeface="Arial"/>
                  <a:ea typeface="Arial"/>
                  <a:cs typeface="Arial"/>
                  <a:sym typeface="Arial"/>
                </a:rPr>
                <a:t>Confusion Matrix</a:t>
              </a:r>
              <a:endParaRPr sz="1200" b="1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" name="Google Shape;160;p16"/>
            <p:cNvSpPr txBox="1"/>
            <p:nvPr/>
          </p:nvSpPr>
          <p:spPr>
            <a:xfrm>
              <a:off x="2244275" y="3396250"/>
              <a:ext cx="16668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dirty="0">
                  <a:solidFill>
                    <a:srgbClr val="555555"/>
                  </a:solidFill>
                  <a:latin typeface="Arial"/>
                  <a:ea typeface="Arial"/>
                  <a:cs typeface="Arial"/>
                  <a:sym typeface="Arial"/>
                </a:rPr>
                <a:t>ROC Curve</a:t>
              </a:r>
              <a:endParaRPr sz="1200" b="1" dirty="0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1" name="Google Shape;161;p16"/>
          <p:cNvSpPr/>
          <p:nvPr/>
        </p:nvSpPr>
        <p:spPr>
          <a:xfrm>
            <a:off x="0" y="6354766"/>
            <a:ext cx="12192000" cy="5031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16"/>
          <p:cNvSpPr txBox="1"/>
          <p:nvPr/>
        </p:nvSpPr>
        <p:spPr>
          <a:xfrm>
            <a:off x="4648200" y="6451568"/>
            <a:ext cx="3204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1</a:t>
            </a:r>
            <a:endParaRPr sz="1200" b="0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163" name="Google Shape;163;p16"/>
          <p:cNvPicPr preferRelativeResize="0"/>
          <p:nvPr/>
        </p:nvPicPr>
        <p:blipFill rotWithShape="1">
          <a:blip r:embed="rId7">
            <a:alphaModFix/>
          </a:blip>
          <a:srcRect l="11645"/>
          <a:stretch/>
        </p:blipFill>
        <p:spPr>
          <a:xfrm>
            <a:off x="8379025" y="2343958"/>
            <a:ext cx="3651052" cy="3212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16"/>
          <p:cNvPicPr preferRelativeResize="0"/>
          <p:nvPr/>
        </p:nvPicPr>
        <p:blipFill rotWithShape="1">
          <a:blip r:embed="rId8">
            <a:alphaModFix/>
          </a:blip>
          <a:srcRect l="6329" r="4656" b="1778"/>
          <a:stretch/>
        </p:blipFill>
        <p:spPr>
          <a:xfrm>
            <a:off x="4747850" y="2381988"/>
            <a:ext cx="3531608" cy="3107601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7"/>
          <p:cNvSpPr/>
          <p:nvPr/>
        </p:nvSpPr>
        <p:spPr>
          <a:xfrm>
            <a:off x="0" y="6354762"/>
            <a:ext cx="12192000" cy="503100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dist="23000" dir="5400000" rotWithShape="0">
              <a:srgbClr val="80808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7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latin typeface="Times New Roman"/>
                <a:ea typeface="Times New Roman"/>
                <a:cs typeface="Times New Roman"/>
                <a:sym typeface="Times New Roman"/>
              </a:rPr>
              <a:t>FEASIBILITY AND VIABILITY</a:t>
            </a:r>
            <a:endParaRPr/>
          </a:p>
        </p:txBody>
      </p:sp>
      <p:sp>
        <p:nvSpPr>
          <p:cNvPr id="172" name="Google Shape;172;p17"/>
          <p:cNvSpPr txBox="1"/>
          <p:nvPr/>
        </p:nvSpPr>
        <p:spPr>
          <a:xfrm>
            <a:off x="363875" y="2311491"/>
            <a:ext cx="93852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17"/>
          <p:cNvSpPr txBox="1">
            <a:spLocks noGrp="1"/>
          </p:cNvSpPr>
          <p:nvPr>
            <p:ph type="sldNum" idx="12"/>
          </p:nvPr>
        </p:nvSpPr>
        <p:spPr>
          <a:xfrm>
            <a:off x="8704525" y="6290228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fld id="{00000000-1234-1234-1234-123412341234}" type="slidenum">
              <a:rPr lang="en-US" sz="1200" b="1" i="0" u="none" strike="noStrike" cap="non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4</a:t>
            </a:fld>
            <a:endParaRPr sz="1200" b="1" i="0" u="none" strike="noStrike" cap="non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74" name="Google Shape;174;p17" descr="Your startup LOGO"/>
          <p:cNvSpPr/>
          <p:nvPr/>
        </p:nvSpPr>
        <p:spPr>
          <a:xfrm>
            <a:off x="329773" y="252246"/>
            <a:ext cx="1251900" cy="807300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ARCTIC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5" name="Google Shape;175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780086" y="1500"/>
            <a:ext cx="2249851" cy="1062337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17"/>
          <p:cNvSpPr txBox="1"/>
          <p:nvPr/>
        </p:nvSpPr>
        <p:spPr>
          <a:xfrm>
            <a:off x="299675" y="1171304"/>
            <a:ext cx="3135900" cy="2190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91400" tIns="91400" rIns="91400" bIns="91400" anchor="t" anchorCtr="0">
            <a:noAutofit/>
          </a:bodyPr>
          <a:lstStyle/>
          <a:p>
            <a:pPr marL="0" lvl="0" indent="0" algn="l" rtl="0">
              <a:spcBef>
                <a:spcPts val="1400"/>
              </a:spcBef>
              <a:spcAft>
                <a:spcPts val="0"/>
              </a:spcAft>
              <a:buNone/>
            </a:pPr>
            <a:r>
              <a:rPr lang="en-US" sz="1369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Technical Feasibility</a:t>
            </a:r>
            <a:endParaRPr sz="1369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15516" algn="l" rtl="0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69"/>
              <a:buFont typeface="Arial"/>
              <a:buChar char="●"/>
            </a:pPr>
            <a:r>
              <a:rPr lang="en-US" sz="1260" b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Swin Transformer (Tiny) Backbone</a:t>
            </a:r>
            <a:endParaRPr sz="1369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15516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69"/>
              <a:buFont typeface="Arial"/>
              <a:buChar char="●"/>
            </a:pPr>
            <a:r>
              <a:rPr lang="en-US" sz="1260" b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384×384 High-Resolution Input</a:t>
            </a:r>
            <a:endParaRPr sz="1369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15516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69"/>
              <a:buFont typeface="Arial"/>
              <a:buChar char="●"/>
            </a:pPr>
            <a:r>
              <a:rPr lang="en-US" sz="1260" b="0">
                <a:solidFill>
                  <a:srgbClr val="000000"/>
                </a:solidFill>
                <a:highlight>
                  <a:srgbClr val="FFE6CC"/>
                </a:highlight>
                <a:latin typeface="Arial"/>
                <a:ea typeface="Arial"/>
                <a:cs typeface="Arial"/>
                <a:sym typeface="Arial"/>
              </a:rPr>
              <a:t>Ben Graham Retinal Crop</a:t>
            </a:r>
            <a:endParaRPr sz="1369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15516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69"/>
              <a:buFont typeface="Arial"/>
              <a:buChar char="●"/>
            </a:pPr>
            <a:r>
              <a:rPr lang="en-US" sz="1260" b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Contrast Enhancement</a:t>
            </a:r>
            <a:endParaRPr sz="1369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15516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69"/>
              <a:buFont typeface="Arial"/>
              <a:buChar char="●"/>
            </a:pPr>
            <a:r>
              <a:rPr lang="en-US" sz="1260" b="0">
                <a:solidFill>
                  <a:srgbClr val="000000"/>
                </a:solidFill>
                <a:highlight>
                  <a:srgbClr val="E2F0D9"/>
                </a:highlight>
                <a:latin typeface="Arial"/>
                <a:ea typeface="Arial"/>
                <a:cs typeface="Arial"/>
                <a:sym typeface="Arial"/>
              </a:rPr>
              <a:t>Ordinal Regression (MSE Loss, QWK-Optimized)</a:t>
            </a:r>
            <a:endParaRPr sz="1369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15516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69"/>
              <a:buFont typeface="Arial"/>
              <a:buChar char="●"/>
            </a:pPr>
            <a:r>
              <a:rPr lang="en-US" sz="1260" b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Test-Time Augmentation</a:t>
            </a:r>
            <a:endParaRPr sz="1369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15516" algn="l" rtl="0"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369"/>
              <a:buFont typeface="Arial"/>
              <a:buChar char="●"/>
            </a:pPr>
            <a:r>
              <a:rPr lang="en-US" sz="1260" b="0">
                <a:solidFill>
                  <a:srgbClr val="000000"/>
                </a:solidFill>
                <a:highlight>
                  <a:srgbClr val="FFE6CC"/>
                </a:highlight>
                <a:latin typeface="Arial"/>
                <a:ea typeface="Arial"/>
                <a:cs typeface="Arial"/>
                <a:sym typeface="Arial"/>
              </a:rPr>
              <a:t>Federated Learning</a:t>
            </a:r>
            <a:r>
              <a:rPr lang="en-US" sz="1260" b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— ethnicity/country-independent generalization</a:t>
            </a:r>
            <a:endParaRPr sz="1369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17"/>
          <p:cNvSpPr txBox="1"/>
          <p:nvPr/>
        </p:nvSpPr>
        <p:spPr>
          <a:xfrm>
            <a:off x="4042325" y="887063"/>
            <a:ext cx="3863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Economic Feasibility </a:t>
            </a:r>
            <a:endParaRPr sz="17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8" name="Google Shape;178;p17"/>
          <p:cNvSpPr txBox="1"/>
          <p:nvPr/>
        </p:nvSpPr>
        <p:spPr>
          <a:xfrm>
            <a:off x="7830179" y="1283589"/>
            <a:ext cx="3863400" cy="2226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91400" tIns="91400" rIns="91400" bIns="91400" anchor="t" anchorCtr="0">
            <a:noAutofit/>
          </a:bodyPr>
          <a:lstStyle/>
          <a:p>
            <a:pPr marL="0" lvl="0" indent="0" algn="l" rtl="0">
              <a:spcBef>
                <a:spcPts val="1400"/>
              </a:spcBef>
              <a:spcAft>
                <a:spcPts val="0"/>
              </a:spcAft>
              <a:buNone/>
            </a:pPr>
            <a:r>
              <a:rPr lang="en-US" sz="17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Maintenance &amp; Safety Feasibility</a:t>
            </a:r>
            <a:endParaRPr sz="17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36550" algn="l" rtl="0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●"/>
            </a:pPr>
            <a:r>
              <a:rPr lang="en-US" sz="1500" b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Batch Normalization</a:t>
            </a:r>
            <a:endParaRPr sz="17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●"/>
            </a:pPr>
            <a:r>
              <a:rPr lang="en-US" sz="1500" b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Dropout (0.1)</a:t>
            </a:r>
            <a:endParaRPr sz="17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●"/>
            </a:pPr>
            <a:r>
              <a:rPr lang="en-US" sz="1500" b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 Augmentation</a:t>
            </a:r>
            <a:endParaRPr sz="17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●"/>
            </a:pPr>
            <a:r>
              <a:rPr lang="en-US" sz="1500" b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Early Stopping</a:t>
            </a:r>
            <a:endParaRPr sz="17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●"/>
            </a:pPr>
            <a:r>
              <a:rPr lang="en-US" sz="1500" b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Learning-Rate Reduction</a:t>
            </a:r>
            <a:endParaRPr sz="17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700"/>
              <a:buFont typeface="Arial"/>
              <a:buChar char="●"/>
            </a:pPr>
            <a:r>
              <a:rPr lang="en-US" sz="1500" b="0">
                <a:solidFill>
                  <a:srgbClr val="000000"/>
                </a:solidFill>
                <a:highlight>
                  <a:srgbClr val="E2F0D9"/>
                </a:highlight>
                <a:latin typeface="Arial"/>
                <a:ea typeface="Arial"/>
                <a:cs typeface="Arial"/>
                <a:sym typeface="Arial"/>
              </a:rPr>
              <a:t>Specialist Clinical Review</a:t>
            </a:r>
            <a:endParaRPr sz="17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17"/>
          <p:cNvSpPr txBox="1"/>
          <p:nvPr/>
        </p:nvSpPr>
        <p:spPr>
          <a:xfrm>
            <a:off x="299675" y="3777901"/>
            <a:ext cx="3542400" cy="2429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91400" tIns="91400" rIns="91400" bIns="91400" anchor="t" anchorCtr="0">
            <a:noAutofit/>
          </a:bodyPr>
          <a:lstStyle/>
          <a:p>
            <a:pPr marL="0" lvl="0" indent="0" algn="l" rtl="0">
              <a:spcBef>
                <a:spcPts val="140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Economic &amp; Operational Viability</a:t>
            </a:r>
            <a:endParaRPr sz="15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23850" algn="l" rtl="0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●"/>
            </a:pPr>
            <a:r>
              <a:rPr lang="en-US" sz="1300" b="0">
                <a:solidFill>
                  <a:srgbClr val="000000"/>
                </a:solidFill>
                <a:highlight>
                  <a:srgbClr val="E2F0D9"/>
                </a:highlight>
                <a:latin typeface="Arial"/>
                <a:ea typeface="Arial"/>
                <a:cs typeface="Arial"/>
                <a:sym typeface="Arial"/>
              </a:rPr>
              <a:t>Automated DR Screening</a:t>
            </a:r>
            <a:endParaRPr sz="15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●"/>
            </a:pPr>
            <a:r>
              <a:rPr lang="en-US" sz="1300" b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Reduced Manual Workload</a:t>
            </a:r>
            <a:endParaRPr sz="15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●"/>
            </a:pPr>
            <a:r>
              <a:rPr lang="en-US" sz="1300" b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Faster Initial Triage</a:t>
            </a:r>
            <a:endParaRPr sz="15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●"/>
            </a:pPr>
            <a:r>
              <a:rPr lang="en-US" sz="1300" b="0">
                <a:solidFill>
                  <a:srgbClr val="000000"/>
                </a:solidFill>
                <a:highlight>
                  <a:srgbClr val="FFE6CC"/>
                </a:highlight>
                <a:latin typeface="Arial"/>
                <a:ea typeface="Arial"/>
                <a:cs typeface="Arial"/>
                <a:sym typeface="Arial"/>
              </a:rPr>
              <a:t>Remote Screening Support</a:t>
            </a:r>
            <a:endParaRPr sz="15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●"/>
            </a:pPr>
            <a:r>
              <a:rPr lang="en-US" sz="1300" b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Specialist Workload Prioritization</a:t>
            </a:r>
            <a:endParaRPr sz="15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500"/>
              <a:buFont typeface="Arial"/>
              <a:buChar char="●"/>
            </a:pPr>
            <a:r>
              <a:rPr lang="en-US" sz="1300" b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Large-Scale Screening</a:t>
            </a:r>
            <a:endParaRPr sz="15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17"/>
          <p:cNvSpPr txBox="1"/>
          <p:nvPr/>
        </p:nvSpPr>
        <p:spPr>
          <a:xfrm>
            <a:off x="4318500" y="3189388"/>
            <a:ext cx="3863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Implementation Viability </a:t>
            </a:r>
            <a:endParaRPr sz="15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1" name="Google Shape;181;p17"/>
          <p:cNvSpPr txBox="1"/>
          <p:nvPr/>
        </p:nvSpPr>
        <p:spPr>
          <a:xfrm>
            <a:off x="8248374" y="3638026"/>
            <a:ext cx="3301200" cy="2467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91400" tIns="91400" rIns="91400" bIns="91400" anchor="t" anchorCtr="0">
            <a:noAutofit/>
          </a:bodyPr>
          <a:lstStyle/>
          <a:p>
            <a:pPr marL="0" lvl="0" indent="0" algn="l" rtl="0">
              <a:spcBef>
                <a:spcPts val="1400"/>
              </a:spcBef>
              <a:spcAft>
                <a:spcPts val="0"/>
              </a:spcAft>
              <a:buNone/>
            </a:pPr>
            <a:r>
              <a:rPr lang="en-US" sz="17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Environmental Viability</a:t>
            </a:r>
            <a:endParaRPr sz="17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36550" algn="l" rtl="0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●"/>
            </a:pPr>
            <a:r>
              <a:rPr lang="en-US" sz="1500" b="0">
                <a:solidFill>
                  <a:srgbClr val="000000"/>
                </a:solidFill>
                <a:highlight>
                  <a:srgbClr val="FFE6CC"/>
                </a:highlight>
                <a:latin typeface="Arial"/>
                <a:ea typeface="Arial"/>
                <a:cs typeface="Arial"/>
                <a:sym typeface="Arial"/>
              </a:rPr>
              <a:t>Remote / Rural Screening</a:t>
            </a:r>
            <a:endParaRPr sz="17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●"/>
            </a:pPr>
            <a:r>
              <a:rPr lang="en-US" sz="1500" b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Reduced Patient Travel</a:t>
            </a:r>
            <a:endParaRPr sz="17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●"/>
            </a:pPr>
            <a:r>
              <a:rPr lang="en-US" sz="1500" b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Digital Image-Based Screening</a:t>
            </a:r>
            <a:endParaRPr sz="17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●"/>
            </a:pPr>
            <a:r>
              <a:rPr lang="en-US" sz="1500" b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Low Physical Infrastructure</a:t>
            </a:r>
            <a:endParaRPr sz="17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●"/>
            </a:pPr>
            <a:r>
              <a:rPr lang="en-US" sz="1500" b="0">
                <a:solidFill>
                  <a:srgbClr val="000000"/>
                </a:solidFill>
                <a:highlight>
                  <a:srgbClr val="E2F0D9"/>
                </a:highlight>
                <a:latin typeface="Arial"/>
                <a:ea typeface="Arial"/>
                <a:cs typeface="Arial"/>
                <a:sym typeface="Arial"/>
              </a:rPr>
              <a:t>Telemedicine-Enabled Care</a:t>
            </a:r>
            <a:endParaRPr sz="17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700"/>
              <a:buFont typeface="Arial"/>
              <a:buChar char="●"/>
            </a:pPr>
            <a:r>
              <a:rPr lang="en-US" sz="1500" b="0">
                <a:solidFill>
                  <a:srgbClr val="000000"/>
                </a:solidFill>
                <a:highlight>
                  <a:srgbClr val="FFE6CC"/>
                </a:highlight>
                <a:latin typeface="Arial"/>
                <a:ea typeface="Arial"/>
                <a:cs typeface="Arial"/>
                <a:sym typeface="Arial"/>
              </a:rPr>
              <a:t>Scalable District Deployment</a:t>
            </a:r>
            <a:endParaRPr sz="17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82" name="Google Shape;182;p17"/>
          <p:cNvGraphicFramePr/>
          <p:nvPr/>
        </p:nvGraphicFramePr>
        <p:xfrm>
          <a:off x="3547224" y="1261139"/>
          <a:ext cx="3737250" cy="2011200"/>
        </p:xfrm>
        <a:graphic>
          <a:graphicData uri="http://schemas.openxmlformats.org/drawingml/2006/table">
            <a:tbl>
              <a:tblPr>
                <a:noFill/>
                <a:tableStyleId>{9AD7D088-C40F-4975-B5E9-3163C44DAC8F}</a:tableStyleId>
              </a:tblPr>
              <a:tblGrid>
                <a:gridCol w="1868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68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24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i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Parameter</a:t>
                      </a:r>
                      <a:endParaRPr sz="1000" b="1" i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00" marR="91400" marT="91400" marB="914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i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RSG-Net System</a:t>
                      </a:r>
                      <a:endParaRPr sz="1000" b="1" i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00" marR="91400" marT="91400" marB="914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06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Model Complexity</a:t>
                      </a:r>
                      <a:endParaRPr sz="1000" b="0" i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00" marR="91400" marT="91400" marB="914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Swin Transformer (Tiny)</a:t>
                      </a:r>
                      <a:endParaRPr sz="1000" b="0" i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00" marR="91400" marT="91400" marB="914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06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Input Size</a:t>
                      </a:r>
                      <a:endParaRPr sz="1000" b="0" i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00" marR="91400" marT="91400" marB="914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384×384×3</a:t>
                      </a:r>
                      <a:endParaRPr sz="1000" b="0" i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00" marR="91400" marT="91400" marB="914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06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Batch Size</a:t>
                      </a:r>
                      <a:endParaRPr sz="1000" b="0" i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00" marR="91400" marT="91400" marB="914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64 Images</a:t>
                      </a:r>
                      <a:endParaRPr sz="1000" b="0" i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00" marR="91400" marT="91400" marB="914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06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Processing</a:t>
                      </a:r>
                      <a:endParaRPr sz="1000" b="0" i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00" marR="91400" marT="91400" marB="914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≈23 ms/Batch</a:t>
                      </a:r>
                      <a:endParaRPr sz="1000" b="0" i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00" marR="91400" marT="91400" marB="914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06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AI Throughput</a:t>
                      </a:r>
                      <a:endParaRPr sz="1000" b="0" i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00" marR="91400" marT="91400" marB="914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≈2,783 Images/s*</a:t>
                      </a:r>
                      <a:endParaRPr sz="1000" b="0" i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00" marR="91400" marT="91400" marB="914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183" name="Google Shape;183;p17"/>
          <p:cNvGraphicFramePr/>
          <p:nvPr/>
        </p:nvGraphicFramePr>
        <p:xfrm>
          <a:off x="3499771" y="3580086"/>
          <a:ext cx="4405950" cy="2748825"/>
        </p:xfrm>
        <a:graphic>
          <a:graphicData uri="http://schemas.openxmlformats.org/drawingml/2006/table">
            <a:tbl>
              <a:tblPr>
                <a:noFill/>
                <a:tableStyleId>{9AD7D088-C40F-4975-B5E9-3163C44DAC8F}</a:tableStyleId>
              </a:tblPr>
              <a:tblGrid>
                <a:gridCol w="2202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02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3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i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Factor</a:t>
                      </a:r>
                      <a:endParaRPr sz="1000" b="1" i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00" marR="91400" marT="91400" marB="914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i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Research Implementation</a:t>
                      </a:r>
                      <a:endParaRPr sz="1000" b="1" i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00" marR="91400" marT="91400" marB="914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22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Dataset</a:t>
                      </a:r>
                      <a:endParaRPr sz="1000" b="0" i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00" marR="91400" marT="91400" marB="914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APTOS 2019</a:t>
                      </a:r>
                      <a:endParaRPr sz="1000" b="0" i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00" marR="91400" marT="91400" marB="914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62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Images</a:t>
                      </a:r>
                      <a:endParaRPr sz="1000" b="0" i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00" marR="91400" marT="91400" marB="914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≈3,662</a:t>
                      </a:r>
                      <a:endParaRPr sz="1000" b="0" i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00" marR="91400" marT="91400" marB="914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2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Input</a:t>
                      </a:r>
                      <a:endParaRPr sz="1000" b="0" i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00" marR="91400" marT="91400" marB="914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384×384×3</a:t>
                      </a:r>
                      <a:endParaRPr sz="1000" b="0" i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00" marR="91400" marT="91400" marB="914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2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Optimizer</a:t>
                      </a:r>
                      <a:endParaRPr sz="1000" b="0" i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00" marR="91400" marT="91400" marB="914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AdamW</a:t>
                      </a:r>
                      <a:endParaRPr sz="1000" b="0" i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00" marR="91400" marT="91400" marB="914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2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Epochs</a:t>
                      </a:r>
                      <a:endParaRPr sz="1000" b="0" i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00" marR="91400" marT="91400" marB="914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30</a:t>
                      </a:r>
                      <a:endParaRPr sz="1000" b="0" i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00" marR="91400" marT="91400" marB="914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42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Batch Size</a:t>
                      </a:r>
                      <a:endParaRPr sz="1000" b="0" i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00" marR="91400" marT="91400" marB="914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64</a:t>
                      </a:r>
                      <a:endParaRPr sz="1000" b="0" i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00" marR="91400" marT="91400" marB="914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42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Learning Rate</a:t>
                      </a:r>
                      <a:endParaRPr sz="1000" b="0" i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00" marR="91400" marT="91400" marB="914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1e-4</a:t>
                      </a:r>
                      <a:endParaRPr sz="1000" b="0" i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00" marR="91400" marT="91400" marB="914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84" name="Google Shape;184;p17"/>
          <p:cNvSpPr txBox="1"/>
          <p:nvPr/>
        </p:nvSpPr>
        <p:spPr>
          <a:xfrm>
            <a:off x="10953750" y="6429375"/>
            <a:ext cx="762000" cy="362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15240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4</a:t>
            </a:r>
            <a:endParaRPr sz="1200" b="0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8"/>
          <p:cNvSpPr/>
          <p:nvPr/>
        </p:nvSpPr>
        <p:spPr>
          <a:xfrm>
            <a:off x="0" y="6354762"/>
            <a:ext cx="12192000" cy="503100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dist="23000" dir="5400000" rotWithShape="0">
              <a:srgbClr val="80808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8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latin typeface="Times New Roman"/>
                <a:ea typeface="Times New Roman"/>
                <a:cs typeface="Times New Roman"/>
                <a:sym typeface="Times New Roman"/>
              </a:rPr>
              <a:t>IMPACT AND BENEFITS</a:t>
            </a:r>
            <a:endParaRPr/>
          </a:p>
        </p:txBody>
      </p:sp>
      <p:sp>
        <p:nvSpPr>
          <p:cNvPr id="192" name="Google Shape;192;p18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fld id="{00000000-1234-1234-1234-123412341234}" type="slidenum">
              <a:rPr lang="en-US" sz="1200" b="1" i="0" u="none" strike="noStrike" cap="non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5</a:t>
            </a:fld>
            <a:endParaRPr sz="1200" b="1" i="0" u="none" strike="noStrike" cap="non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93" name="Google Shape;193;p18" descr="Your startup LOGO"/>
          <p:cNvSpPr/>
          <p:nvPr/>
        </p:nvSpPr>
        <p:spPr>
          <a:xfrm>
            <a:off x="329775" y="252249"/>
            <a:ext cx="1246500" cy="709500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ARCTIC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4" name="Google Shape;194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780086" y="1500"/>
            <a:ext cx="2249851" cy="1062337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18"/>
          <p:cNvSpPr txBox="1"/>
          <p:nvPr/>
        </p:nvSpPr>
        <p:spPr>
          <a:xfrm>
            <a:off x="201450" y="961750"/>
            <a:ext cx="11789100" cy="55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39725" algn="l" rtl="0">
              <a:spcBef>
                <a:spcPts val="0"/>
              </a:spcBef>
              <a:spcAft>
                <a:spcPts val="0"/>
              </a:spcAft>
              <a:buSzPts val="1750"/>
              <a:buAutoNum type="arabicPeriod"/>
            </a:pPr>
            <a:r>
              <a:rPr lang="en-US" sz="1750" b="1" u="sng"/>
              <a:t>Closes a massive access gap.</a:t>
            </a:r>
            <a:r>
              <a:rPr lang="en-US" sz="1750"/>
              <a:t> India's national </a:t>
            </a:r>
            <a:r>
              <a:rPr lang="en-US" sz="1750">
                <a:highlight>
                  <a:srgbClr val="E2F0D9"/>
                </a:highlight>
              </a:rPr>
              <a:t>ophthalmologist-to-population ratio is just 0.9 per 100,000</a:t>
            </a:r>
            <a:r>
              <a:rPr lang="en-US" sz="1750"/>
              <a:t>, and some regions have as few as 0.3 per 100,000 — every practicing ophthalmologist is effectively required to examine </a:t>
            </a:r>
            <a:r>
              <a:rPr lang="en-US" sz="1750">
                <a:highlight>
                  <a:srgbClr val="E2F0D9"/>
                </a:highlight>
              </a:rPr>
              <a:t>roughly 3,500 diabetics a year.</a:t>
            </a:r>
            <a:r>
              <a:rPr lang="en-US" sz="1750"/>
              <a:t> Automated triage means far more patients get a first-pass screening without needing a specialist physically present. </a:t>
            </a:r>
            <a:endParaRPr sz="1750"/>
          </a:p>
          <a:p>
            <a:pPr marL="457200" lvl="0" indent="-339725" algn="l" rtl="0">
              <a:spcBef>
                <a:spcPts val="1000"/>
              </a:spcBef>
              <a:spcAft>
                <a:spcPts val="0"/>
              </a:spcAft>
              <a:buSzPts val="1750"/>
              <a:buAutoNum type="arabicPeriod"/>
            </a:pPr>
            <a:r>
              <a:rPr lang="en-US" sz="1750" b="1" u="sng"/>
              <a:t>The problem is only getting bigger.</a:t>
            </a:r>
            <a:r>
              <a:rPr lang="en-US" sz="1750"/>
              <a:t> India's diabetic population is projected to </a:t>
            </a:r>
            <a:r>
              <a:rPr lang="en-US" sz="1750">
                <a:highlight>
                  <a:srgbClr val="FFE6CC"/>
                </a:highlight>
              </a:rPr>
              <a:t>grow from 77 million in 2019 to over 134 million by 2045</a:t>
            </a:r>
            <a:r>
              <a:rPr lang="en-US" sz="1750"/>
              <a:t> — a scalable AI screening layer is the only way specialist capacity can keep pace with that curve. </a:t>
            </a:r>
            <a:endParaRPr sz="1750"/>
          </a:p>
          <a:p>
            <a:pPr marL="457200" lvl="0" indent="-339725" algn="l" rtl="0">
              <a:spcBef>
                <a:spcPts val="1000"/>
              </a:spcBef>
              <a:spcAft>
                <a:spcPts val="0"/>
              </a:spcAft>
              <a:buSzPts val="1750"/>
              <a:buAutoNum type="arabicPeriod"/>
            </a:pPr>
            <a:r>
              <a:rPr lang="en-US" sz="1750" b="1" u="sng"/>
              <a:t>Rural isn't a side case </a:t>
            </a:r>
            <a:r>
              <a:rPr lang="en-US" sz="1750"/>
              <a:t>— it's the majority case. </a:t>
            </a:r>
            <a:r>
              <a:rPr lang="en-US" sz="1750">
                <a:highlight>
                  <a:srgbClr val="E2F0D9"/>
                </a:highlight>
              </a:rPr>
              <a:t>74% of India's population</a:t>
            </a:r>
            <a:r>
              <a:rPr lang="en-US" sz="1750"/>
              <a:t> lives in </a:t>
            </a:r>
            <a:r>
              <a:rPr lang="en-US" sz="1750">
                <a:highlight>
                  <a:srgbClr val="E2F0D9"/>
                </a:highlight>
              </a:rPr>
              <a:t>rural areas</a:t>
            </a:r>
            <a:r>
              <a:rPr lang="en-US" sz="1750"/>
              <a:t> with limited access to healthcare resources, and </a:t>
            </a:r>
            <a:r>
              <a:rPr lang="en-US" sz="1750">
                <a:highlight>
                  <a:srgbClr val="FFE6CC"/>
                </a:highlight>
              </a:rPr>
              <a:t>70% of ophthalmologists</a:t>
            </a:r>
            <a:r>
              <a:rPr lang="en-US" sz="1750"/>
              <a:t> are concentrated in </a:t>
            </a:r>
            <a:r>
              <a:rPr lang="en-US" sz="1750">
                <a:highlight>
                  <a:srgbClr val="FFE6CC"/>
                </a:highlight>
              </a:rPr>
              <a:t>urban areas</a:t>
            </a:r>
            <a:r>
              <a:rPr lang="en-US" sz="1750"/>
              <a:t> — so a screening tool that works off a fundus photo, not a specialist visit, directly targets where the gap is worst. </a:t>
            </a:r>
            <a:endParaRPr sz="1750"/>
          </a:p>
          <a:p>
            <a:pPr marL="457200" lvl="0" indent="-339725" algn="l" rtl="0">
              <a:spcBef>
                <a:spcPts val="1000"/>
              </a:spcBef>
              <a:spcAft>
                <a:spcPts val="0"/>
              </a:spcAft>
              <a:buSzPts val="1750"/>
              <a:buAutoNum type="arabicPeriod"/>
            </a:pPr>
            <a:r>
              <a:rPr lang="en-US" sz="1750" b="1" u="sng"/>
              <a:t>Explainability is what makes this deployable, not just accurate.</a:t>
            </a:r>
            <a:r>
              <a:rPr lang="en-US" sz="1750"/>
              <a:t> A black-box severity score isn't something a rural health worker or referring physician can act on with confidence. Our </a:t>
            </a:r>
            <a:r>
              <a:rPr lang="en-US" sz="1750">
                <a:highlight>
                  <a:srgbClr val="FFE6CC"/>
                </a:highlight>
              </a:rPr>
              <a:t>XAI pipeline</a:t>
            </a:r>
            <a:r>
              <a:rPr lang="en-US" sz="1750"/>
              <a:t> — with </a:t>
            </a:r>
            <a:r>
              <a:rPr lang="en-US" sz="1750">
                <a:highlight>
                  <a:srgbClr val="FFE6CC"/>
                </a:highlight>
              </a:rPr>
              <a:t>quantified faithfulness (deletion/insertion AUC) and cross-patient consistency </a:t>
            </a:r>
            <a:r>
              <a:rPr lang="en-US" sz="1750"/>
              <a:t>— gives the clinician a visual, verifiable basis for every grading before a patient is referred onward. That's the difference between a model that's accurate in a lab and one a doctor will actually trust enough to use for triage.</a:t>
            </a:r>
            <a:endParaRPr sz="1750"/>
          </a:p>
          <a:p>
            <a:pPr marL="457200" lvl="0" indent="-339725" algn="l" rtl="0">
              <a:spcBef>
                <a:spcPts val="1000"/>
              </a:spcBef>
              <a:spcAft>
                <a:spcPts val="1000"/>
              </a:spcAft>
              <a:buSzPts val="1750"/>
              <a:buAutoNum type="arabicPeriod"/>
            </a:pPr>
            <a:r>
              <a:rPr lang="en-US" sz="1750" b="1" u="sng"/>
              <a:t>Prioritizes scarce specialist time. </a:t>
            </a:r>
            <a:r>
              <a:rPr lang="en-US" sz="1750"/>
              <a:t>Faster automated grading of the </a:t>
            </a:r>
            <a:r>
              <a:rPr lang="en-US" sz="1750">
                <a:highlight>
                  <a:srgbClr val="E2F0D9"/>
                </a:highlight>
              </a:rPr>
              <a:t>Class 0–1 (no/mild DR) </a:t>
            </a:r>
            <a:r>
              <a:rPr lang="en-US" sz="1750"/>
              <a:t>majority means </a:t>
            </a:r>
            <a:r>
              <a:rPr lang="en-US" sz="1750">
                <a:highlight>
                  <a:srgbClr val="E2F0D9"/>
                </a:highlight>
              </a:rPr>
              <a:t>ophthalmologists spend their limited hours</a:t>
            </a:r>
            <a:r>
              <a:rPr lang="en-US" sz="1750"/>
              <a:t> on the smaller pool of </a:t>
            </a:r>
            <a:r>
              <a:rPr lang="en-US" sz="1750">
                <a:highlight>
                  <a:srgbClr val="E2F0D9"/>
                </a:highlight>
              </a:rPr>
              <a:t>Class 2–4 cases</a:t>
            </a:r>
            <a:r>
              <a:rPr lang="en-US" sz="1750"/>
              <a:t> that genuinely need them — turning a flat screening queue into a risk-ranked one.</a:t>
            </a:r>
            <a:endParaRPr sz="175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" name="Google Shape;205;p19"/>
          <p:cNvSpPr/>
          <p:nvPr/>
        </p:nvSpPr>
        <p:spPr>
          <a:xfrm>
            <a:off x="0" y="6354766"/>
            <a:ext cx="12192000" cy="5031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19"/>
          <p:cNvSpPr txBox="1"/>
          <p:nvPr/>
        </p:nvSpPr>
        <p:spPr>
          <a:xfrm>
            <a:off x="609600" y="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RESEARCH AND REFERENCES</a:t>
            </a:r>
            <a:endParaRPr sz="3600" b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207" name="Google Shape;207;p19"/>
          <p:cNvGrpSpPr/>
          <p:nvPr/>
        </p:nvGrpSpPr>
        <p:grpSpPr>
          <a:xfrm>
            <a:off x="329775" y="252251"/>
            <a:ext cx="1251900" cy="807300"/>
            <a:chOff x="329775" y="252251"/>
            <a:chExt cx="1251900" cy="807300"/>
          </a:xfrm>
        </p:grpSpPr>
        <p:sp>
          <p:nvSpPr>
            <p:cNvPr id="208" name="Google Shape;208;p19"/>
            <p:cNvSpPr/>
            <p:nvPr/>
          </p:nvSpPr>
          <p:spPr>
            <a:xfrm>
              <a:off x="329775" y="252251"/>
              <a:ext cx="1251900" cy="807300"/>
            </a:xfrm>
            <a:prstGeom prst="ellipse">
              <a:avLst/>
            </a:prstGeom>
            <a:solidFill>
              <a:srgbClr val="FFFFFF"/>
            </a:solidFill>
            <a:ln w="25400" cap="flat" cmpd="sng">
              <a:solidFill>
                <a:srgbClr val="8064A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Google Shape;209;p19"/>
            <p:cNvSpPr txBox="1"/>
            <p:nvPr/>
          </p:nvSpPr>
          <p:spPr>
            <a:xfrm>
              <a:off x="329775" y="252251"/>
              <a:ext cx="1251900" cy="807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ARCTIC</a:t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210" name="Google Shape;210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780080" y="1495"/>
            <a:ext cx="2250000" cy="10623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19"/>
          <p:cNvSpPr txBox="1"/>
          <p:nvPr/>
        </p:nvSpPr>
        <p:spPr>
          <a:xfrm>
            <a:off x="609600" y="1447800"/>
            <a:ext cx="10972800" cy="4810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46075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50"/>
              <a:buFont typeface="Arial"/>
              <a:buChar char="●"/>
            </a:pPr>
            <a:r>
              <a:rPr lang="en-US" sz="185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Eligeti &amp; Ansari (2026)</a:t>
            </a:r>
            <a:r>
              <a:rPr lang="en-US" sz="1850" b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– </a:t>
            </a:r>
            <a:r>
              <a:rPr lang="en-US" sz="1850" b="0">
                <a:solidFill>
                  <a:srgbClr val="000000"/>
                </a:solidFill>
                <a:highlight>
                  <a:srgbClr val="FFE6CC"/>
                </a:highlight>
                <a:latin typeface="Arial"/>
                <a:ea typeface="Arial"/>
                <a:cs typeface="Arial"/>
                <a:sym typeface="Arial"/>
              </a:rPr>
              <a:t>Diabetic Retinopathy Screening Assistant</a:t>
            </a:r>
            <a:r>
              <a:rPr lang="en-US" sz="1850" b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an AI-powered retinal fundus analysis system using a CNN-Transformer hybrid architecture. IJCOPE.</a:t>
            </a:r>
            <a:endParaRPr sz="185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46075" algn="l" rtl="0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50"/>
              <a:buFont typeface="Arial"/>
              <a:buChar char="●"/>
            </a:pPr>
            <a:r>
              <a:rPr lang="en-US" sz="185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Sakthi, Raj &amp; Rao (2025)</a:t>
            </a:r>
            <a:r>
              <a:rPr lang="en-US" sz="1850" b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– </a:t>
            </a:r>
            <a:r>
              <a:rPr lang="en-US" sz="1850" b="0">
                <a:solidFill>
                  <a:srgbClr val="000000"/>
                </a:solidFill>
                <a:highlight>
                  <a:srgbClr val="FFE6CC"/>
                </a:highlight>
                <a:latin typeface="Arial"/>
                <a:ea typeface="Arial"/>
                <a:cs typeface="Arial"/>
                <a:sym typeface="Arial"/>
              </a:rPr>
              <a:t>Prediction and classification</a:t>
            </a:r>
            <a:r>
              <a:rPr lang="en-US" sz="1850" b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of diabetic retinopathy using Optical Coherence Tomography (OCT) images. IEEE International Conference.</a:t>
            </a:r>
            <a:endParaRPr sz="185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46075" algn="l" rtl="0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50"/>
              <a:buFont typeface="Arial"/>
              <a:buChar char="●"/>
            </a:pPr>
            <a:r>
              <a:rPr lang="en-US" sz="185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Tajudin, Kipli &amp; Mezlan et al. (2026)</a:t>
            </a:r>
            <a:r>
              <a:rPr lang="en-US" sz="1850" b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– </a:t>
            </a:r>
            <a:r>
              <a:rPr lang="en-US" sz="1850" b="0">
                <a:solidFill>
                  <a:srgbClr val="000000"/>
                </a:solidFill>
                <a:highlight>
                  <a:srgbClr val="E2F0D9"/>
                </a:highlight>
                <a:latin typeface="Arial"/>
                <a:ea typeface="Arial"/>
                <a:cs typeface="Arial"/>
                <a:sym typeface="Arial"/>
              </a:rPr>
              <a:t>Eye-DR: a mobile application</a:t>
            </a:r>
            <a:r>
              <a:rPr lang="en-US" sz="1850" b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for diabetic retinopathy screening using TFLite model conversion. Journal publication.</a:t>
            </a:r>
            <a:endParaRPr sz="185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46075" algn="l" rtl="0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50"/>
              <a:buFont typeface="Arial"/>
              <a:buChar char="●"/>
            </a:pPr>
            <a:r>
              <a:rPr lang="en-US" sz="185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Rajalakshmi, Pramod Kumar &amp; Dhara et al. (2025)</a:t>
            </a:r>
            <a:r>
              <a:rPr lang="en-US" sz="1850" b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– </a:t>
            </a:r>
            <a:r>
              <a:rPr lang="en-US" sz="1850" b="0">
                <a:solidFill>
                  <a:srgbClr val="000000"/>
                </a:solidFill>
                <a:highlight>
                  <a:srgbClr val="E2F0D9"/>
                </a:highlight>
                <a:latin typeface="Arial"/>
                <a:ea typeface="Arial"/>
                <a:cs typeface="Arial"/>
                <a:sym typeface="Arial"/>
              </a:rPr>
              <a:t>Creation of a retinal image database</a:t>
            </a:r>
            <a:r>
              <a:rPr lang="en-US" sz="1850" b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for an automated diabetic retinopathy screening tool in India. Scientific Reports.</a:t>
            </a:r>
            <a:endParaRPr sz="185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46075" algn="l" rtl="0"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850"/>
              <a:buFont typeface="Arial"/>
              <a:buChar char="●"/>
            </a:pPr>
            <a:r>
              <a:rPr lang="en-US" sz="1850" b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Public Dataset Used: APTOS 2019 </a:t>
            </a:r>
            <a:r>
              <a:rPr lang="en-US" sz="1850" b="0">
                <a:solidFill>
                  <a:srgbClr val="000000"/>
                </a:solidFill>
                <a:highlight>
                  <a:srgbClr val="FDEADA"/>
                </a:highlight>
                <a:latin typeface="Arial"/>
                <a:ea typeface="Arial"/>
                <a:cs typeface="Arial"/>
                <a:sym typeface="Arial"/>
              </a:rPr>
              <a:t>Blindness Detection</a:t>
            </a:r>
            <a:r>
              <a:rPr lang="en-US" sz="1850" b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Benchmark dataset.</a:t>
            </a:r>
            <a:endParaRPr sz="185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19"/>
          <p:cNvSpPr txBox="1"/>
          <p:nvPr/>
        </p:nvSpPr>
        <p:spPr>
          <a:xfrm>
            <a:off x="4648200" y="6429375"/>
            <a:ext cx="3204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6</a:t>
            </a:r>
            <a:endParaRPr sz="1200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161</TotalTime>
  <Words>847</Words>
  <Application>Microsoft Office PowerPoint</Application>
  <PresentationFormat>Widescreen</PresentationFormat>
  <Paragraphs>119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Times New Roman</vt:lpstr>
      <vt:lpstr>Arial</vt:lpstr>
      <vt:lpstr>Calibri</vt:lpstr>
      <vt:lpstr>Oswald</vt:lpstr>
      <vt:lpstr>Garamond</vt:lpstr>
      <vt:lpstr>Roboto Mono</vt:lpstr>
      <vt:lpstr>Office Theme</vt:lpstr>
      <vt:lpstr>SMART INDIA HACKATHON 2026</vt:lpstr>
      <vt:lpstr>PowerPoint Presentation</vt:lpstr>
      <vt:lpstr>PowerPoint Presentation</vt:lpstr>
      <vt:lpstr>FEASIBILITY AND VIABILITY</vt:lpstr>
      <vt:lpstr>IMPACT AND BENEFITS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Nesakan K</cp:lastModifiedBy>
  <cp:revision>2</cp:revision>
  <dcterms:modified xsi:type="dcterms:W3CDTF">2026-09-05T13:07:47Z</dcterms:modified>
</cp:coreProperties>
</file>